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374575" cy="22860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" y="2194560"/>
            <a:ext cx="12374575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Segoe UI"/>
              </a:rPr>
              <a:t>SchuLyf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D1FAE5"/>
                </a:solidFill>
                <a:latin typeface="Segoe UI"/>
              </a:rPr>
              <a:t>A Student Management System for the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0F172A"/>
                </a:solidFill>
                <a:latin typeface="Segoe UI"/>
              </a:rPr>
              <a:t>Digitising admissions, tamper-proof payments, exam-gating,
course management &amp; verifiable academic transcripts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47857"/>
                </a:solidFill>
                <a:latin typeface="Segoe U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29768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F172A"/>
                </a:solidFill>
                <a:latin typeface="Segoe UI"/>
              </a:rPr>
              <a:t>«Your Name»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183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47857"/>
                </a:solidFill>
                <a:latin typeface="Segoe UI"/>
              </a:rPr>
              <a:t>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718304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F172A"/>
                </a:solidFill>
                <a:latin typeface="Segoe UI"/>
              </a:rPr>
              <a:t>«University / Faculty»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47857"/>
                </a:solidFill>
                <a:latin typeface="Segoe UI"/>
              </a:rPr>
              <a:t>DEPARTMENT /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13892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F172A"/>
                </a:solidFill>
                <a:latin typeface="Segoe UI"/>
              </a:rPr>
              <a:t>«Department · Course code»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595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47857"/>
                </a:solidFill>
                <a:latin typeface="Segoe UI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559552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F172A"/>
                </a:solidFill>
                <a:latin typeface="Segoe UI"/>
              </a:rPr>
              <a:t>«Supervisor name»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8017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047857"/>
                </a:solidFill>
                <a:latin typeface="Segoe UI"/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980176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0F172A"/>
                </a:solidFill>
                <a:latin typeface="Segoe UI"/>
              </a:rPr>
              <a:t>«Month Year»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94A3B8"/>
                </a:solidFill>
                <a:latin typeface="Segoe UI"/>
              </a:rPr>
              <a:t>Laravel 13 · Inertia · Vue 3 · PrimeVue · MySQL · Pest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in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22" y="1600200"/>
            <a:ext cx="7789507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Five recurring failures in day-to-day student administration.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Objectives &amp;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bjectives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95" y="1600200"/>
            <a:ext cx="6932361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Each real-world pain maps to a dedicated SchuLyf module.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Methodology &amp;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hase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05175"/>
            <a:ext cx="6766560" cy="31791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1737360"/>
            <a:ext cx="400781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Laravel 13 + Inertia/Vue 3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full-stack, session-authenticated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Test-driven (Pest)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every change proven by a test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Per-feature quality gate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Pint · types · lint · build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Audit-driven hardening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34 findings remediated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Phased, incremental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mponen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60" y="1600200"/>
            <a:ext cx="3326030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Thin controllers → actions/services → Eloquent → MySQL; queued mail; Fortify auth.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Actors &amp; use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180" y="1600200"/>
            <a:ext cx="2740590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Six roles plus an unauthenticated public verifier.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Domain model (UML class diagram)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ass-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985" y="1600200"/>
            <a:ext cx="5904981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Core classes, attributes, operations and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Data model (crow's-foot 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r-data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38" y="1600200"/>
            <a:ext cx="4887474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742432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Segoe UI"/>
              </a:rPr>
              <a:t>34 migrations; the core entities and their cardinalities.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Admissions — decision &amp;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q-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0352"/>
            <a:ext cx="5532120" cy="3911654"/>
          </a:xfrm>
          <a:prstGeom prst="rect">
            <a:avLst/>
          </a:prstGeom>
        </p:spPr>
      </p:pic>
      <p:pic>
        <p:nvPicPr>
          <p:cNvPr id="10" name="Picture 9" descr="state-appl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82140"/>
            <a:ext cx="5532120" cy="3688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SAO decision sequence (admit mints a student)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Application state machine (born Submitted)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Tamper-proof payments &amp; receipts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q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2329"/>
            <a:ext cx="5532120" cy="4147700"/>
          </a:xfrm>
          <a:prstGeom prst="rect">
            <a:avLst/>
          </a:prstGeom>
        </p:spPr>
      </p:pic>
      <p:pic>
        <p:nvPicPr>
          <p:cNvPr id="10" name="Picture 9" descr="hmac-sig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25426"/>
            <a:ext cx="5532120" cy="2601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Validate → mint an immutable, signed receipt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HMAC binds identity; verify re-derives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Verification &amp; the security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q-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56" y="1645920"/>
            <a:ext cx="4223846" cy="4160520"/>
          </a:xfrm>
          <a:prstGeom prst="rect">
            <a:avLst/>
          </a:prstGeom>
        </p:spPr>
      </p:pic>
      <p:pic>
        <p:nvPicPr>
          <p:cNvPr id="10" name="Picture 9" descr="security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53772"/>
            <a:ext cx="5532120" cy="31448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Public verify — authentic or “invalid”, no oracle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Defense in depth across five layers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Exam gating — standing &amp; deferrals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ctivity-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4587"/>
            <a:ext cx="5532120" cy="4143184"/>
          </a:xfrm>
          <a:prstGeom prst="rect">
            <a:avLst/>
          </a:prstGeom>
        </p:spPr>
      </p:pic>
      <p:pic>
        <p:nvPicPr>
          <p:cNvPr id="10" name="Picture 9" descr="standing-thresho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0562"/>
            <a:ext cx="5532120" cy="2891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Standing decides exam-hall access each deadline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861303"/>
            <a:ext cx="5532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Below threshold → at risk unless deferred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Academic transcripts (#71)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ranscript-g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91024"/>
            <a:ext cx="6126480" cy="36074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1737360"/>
            <a:ext cx="4647895" cy="4023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4.0 GPA / CGPA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credit-weighted, per semester &amp; cumulative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Immutable snapshot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signed at issue; results may change later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mpdf PDF + QR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branded, downloadable transcript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500" b="1" i="0">
                <a:solidFill>
                  <a:srgbClr val="0F172A"/>
                </a:solidFill>
                <a:latin typeface="Segoe UI"/>
              </a:rPr>
              <a:t>Public HMAC verify</a:t>
            </a:r>
            <a:r>
              <a:rPr sz="1500" b="0" i="0">
                <a:solidFill>
                  <a:srgbClr val="475569"/>
                </a:solidFill>
                <a:latin typeface="Segoe UI"/>
              </a:rPr>
              <a:t> authentic-or-invalid, no oracle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Implementation &amp;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127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5352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5352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5352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064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2064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2064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ADRs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707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5488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5488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8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modules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82200" y="1600200"/>
            <a:ext cx="1658112" cy="123444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2200" y="1764792"/>
            <a:ext cx="165811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65F46"/>
                </a:solidFill>
                <a:latin typeface="Segoe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2200" y="2377440"/>
            <a:ext cx="1658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475569"/>
                </a:solidFill>
                <a:latin typeface="Segoe UI"/>
              </a:rPr>
              <a:t>roles</a:t>
            </a:r>
          </a:p>
        </p:txBody>
      </p:sp>
      <p:pic>
        <p:nvPicPr>
          <p:cNvPr id="27" name="Picture 26" descr="test-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0759"/>
            <a:ext cx="5943600" cy="2988200"/>
          </a:xfrm>
          <a:prstGeom prst="rect">
            <a:avLst/>
          </a:prstGeom>
        </p:spPr>
      </p:pic>
      <p:pic>
        <p:nvPicPr>
          <p:cNvPr id="28" name="Picture 27" descr="03-sao-review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726" y="3017520"/>
            <a:ext cx="2185987" cy="1554480"/>
          </a:xfrm>
          <a:prstGeom prst="rect">
            <a:avLst/>
          </a:prstGeom>
        </p:spPr>
      </p:pic>
      <p:pic>
        <p:nvPicPr>
          <p:cNvPr id="29" name="Picture 28" descr="08-admin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726" y="4617720"/>
            <a:ext cx="2185987" cy="1554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20840" y="6144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Segoe UI"/>
              </a:rPr>
              <a:t>Real screens — SAO review queue · Admin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419088"/>
            <a:ext cx="1109441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4A3B8"/>
                </a:solidFill>
                <a:latin typeface="Segoe UI"/>
              </a:rPr>
              <a:t>SchuLyf · Student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Segoe UI"/>
              </a:rP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Segoe UI"/>
              </a:rPr>
              <a:t>TESTING ·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0F172A"/>
                </a:solidFill>
                <a:latin typeface="Segoe UI"/>
              </a:rPr>
              <a:t>Testing, a hard-won catch &amp; what's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389888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-test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8122"/>
            <a:ext cx="6035040" cy="32847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6560" y="1691640"/>
            <a:ext cx="4876495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65F46"/>
                </a:solidFill>
                <a:latin typeface="Segoe UI"/>
              </a:rPr>
              <a:t>Engineering rigor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Test-driven; 707 automated Pest tests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4 required CI checks green before every merge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59669"/>
                </a:solidFill>
                <a:latin typeface="Segoe UI"/>
              </a:rPr>
              <a:t>●  </a:t>
            </a:r>
            <a:r>
              <a:rPr sz="1300" b="0" i="0">
                <a:solidFill>
                  <a:srgbClr val="475569"/>
                </a:solidFill>
                <a:latin typeface="Segoe UI"/>
              </a:rPr>
              <a:t>Per-feature quality gate (Pint · vue-tsc · ESLint · build)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65F46"/>
                </a:solidFill>
                <a:latin typeface="Segoe UI"/>
              </a:rPr>
              <a:t>A notable catch</a:t>
            </a:r>
          </a:p>
          <a:p>
            <a:r>
              <a:rPr sz="1250" b="0" i="0">
                <a:solidFill>
                  <a:srgbClr val="475569"/>
                </a:solidFill>
                <a:latin typeface="Segoe UI"/>
              </a:rPr>
              <a:t>The final whole-branch review found a MySQL JSON key-order bug that made every genuine transcript read “invalid” — invisible to the SQLite test suite. Fixed by canonicalising the digest.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065F46"/>
                </a:solidFill>
                <a:latin typeface="Segoe UI"/>
              </a:rPr>
              <a:t>Future work</a:t>
            </a:r>
          </a:p>
          <a:p>
            <a:r>
              <a:rPr sz="1250" b="0" i="0">
                <a:solidFill>
                  <a:srgbClr val="475569"/>
                </a:solidFill>
                <a:latin typeface="Segoe UI"/>
              </a:rPr>
              <a:t>SMS notification channel · analytics dashboards · mobile app · timetable &amp; scheduling.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5806440"/>
            <a:ext cx="4876495" cy="457200"/>
          </a:xfrm>
          <a:prstGeom prst="roundRect">
            <a:avLst>
              <a:gd name="adj" fmla="val 12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5852160"/>
            <a:ext cx="48764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